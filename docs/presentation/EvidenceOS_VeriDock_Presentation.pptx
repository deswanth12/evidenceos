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technical defense of EvidenceOS (VeriDock). Our core thesis is simple: AI interprets evidence; deterministic rules constrain the decision; uncertainty triggers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B2B supply chains, delivery disputes span PDFs, photos, voice notes, and historical claim ledgers. Humans reconcile these manually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we tested standalone semantic AI without deterministic rules (System C), it suffered a 48.0% confident error rate. Strict regex achieved 72.0%. Combining epistemic AI with deterministic rules reached 94.0% with 0% confident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separates probabilistic extraction from deterministic settlement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12-stage pipeline completes in 148.8 milliseconds on average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never market regression or development metrics as real-world accuracy. The 150-case held-out set strips all filename and PNG metadata hints.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D achieves 94.0% decision accuracy with 0.0% confident error rate across the 150 blind held-out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how removing perceptual hashing drops accuracy from 94% to 82%, and removing the rule engine spikes confident errors from 0% to 48%.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strongest result: 100.0% precision whenever EvidenceOS automatically settles a claim (33/33), and 100.0% recall on cases needing human review (108/108).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self-audit caught that entity count accuracy overstated multi-SKU attribution: strict claim-to-SKU attribution on the frozen held-out set is 98.0% overall and 50.0% on multi_sku_dispute.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scope discipline: 100.0% (42/42) applies specifically to this post-freeze Multi-SKU stress suite for v2_context_aware, while our primary 150-case held-out benchmark remains frozen at 94.0%.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SHA-256 alone misses 75% of reused images when perturbed by recompression, cropping, or brightness shifts. Adding 64-bit dHash (Hamming &lt;= 6) brings recall to 100.0% with 0%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3 minutes, the live demo walks from clean auto-approval to inline PDF provenance highlighting, side-by-side dHash reused-image detection, and the research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Both v1.0.0-benchmark-frozen and v1.1.0-research-hardened are tagged and reproducible with a single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0835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01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TECHNICAL &amp; RESEARCH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V1.1.0-RESEARCH-HARDENED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GITHUB.COM/DESWANTH12/EVIDENCEOS   •   SLIDE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110002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OPEN-SOURCE AI EVIDENCE VERIFICATION ENGINE  •  APPLICATION: VERIDOCK</a:t>
            </a:r>
          </a:p>
          <a:p>
            <a:pPr>
              <a:spcBef>
                <a:spcPts val="600"/>
              </a:spcBef>
            </a:pPr>
            <a:r>
              <a:rPr sz="3600" b="1">
                <a:solidFill>
                  <a:srgbClr val="111111"/>
                </a:solidFill>
                <a:latin typeface="Arial"/>
              </a:rPr>
              <a:t>EvidenceOS (VeriDock)</a:t>
            </a:r>
          </a:p>
          <a:p>
            <a:pPr>
              <a:spcBef>
                <a:spcPts val="600"/>
              </a:spcBef>
            </a:pPr>
            <a:r>
              <a:rPr i="1" sz="1400">
                <a:solidFill>
                  <a:srgbClr val="4A4843"/>
                </a:solidFill>
                <a:latin typeface="Georgia"/>
              </a:rPr>
              <a:t>An Epistemically Grounded Multimodal AI, Cross-Modal Conflict Graph &amp; Deterministic Rule Engine for High-Stakes B2B Delivery Dispute Verification.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11000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697480"/>
            <a:ext cx="73152" cy="713232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25496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111111"/>
                </a:solidFill>
                <a:latin typeface="Georgia"/>
              </a:rPr>
              <a:t>“The AI interprets evidence; deterministic rules constrain the decision; uncertainty triggers human review.”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65760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657600"/>
            <a:ext cx="2606040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03904"/>
            <a:ext cx="224028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FROZEN HELD-OUT (N=150)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67647"/>
                </a:solidFill>
                <a:latin typeface="Arial"/>
              </a:rPr>
              <a:t>94.0%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Primary Benchmark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141/150 correct across 25 adversarial categories (95% Wilson CI [89.0%, 96.8%]).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2424" y="365760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2424" y="3657600"/>
            <a:ext cx="2606040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3803904"/>
            <a:ext cx="224028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SELECTIVE PREDICTION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67647"/>
                </a:solidFill>
                <a:latin typeface="Arial"/>
              </a:rPr>
              <a:t>100.0%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Auto-Settle Precision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33/33 autonomous payouts correct (ECE = 0.0207). 100% capture of genuine escalations (108/108).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65760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3657600"/>
            <a:ext cx="26060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803904"/>
            <a:ext cx="224028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SAFETY GUARANTEE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1D4ED8"/>
                </a:solidFill>
                <a:latin typeface="Arial"/>
              </a:rPr>
              <a:t>0.0%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Confident Error Rate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Zero wrong automated payouts on N=150. All 9 extraction/linking misses safely abstain.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8552" y="365760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8552" y="3657600"/>
            <a:ext cx="2606040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3803904"/>
            <a:ext cx="224028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STANDALONE AI BASELINE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D92D20"/>
                </a:solidFill>
                <a:latin typeface="Arial"/>
              </a:rPr>
              <a:t>48.0%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Unconstrained AI Risk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Removing the deterministic rule engine (System C) causes a 48.0% confident error 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41670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02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B2B LOGISTICS &amp; PROCUREMENT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FRAGMENTED MULTIMODAL EVIDENCE   •   SLIDE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Why B2B Delivery Disputes Break Traditional Automation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High-stakes procurement claims require reconciling conflicting, noisy multimodal evidence against strict 48-hour SLAs.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35204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352044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12264"/>
            <a:ext cx="3154680" cy="2898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01. STRUCTURED &amp; PROSE PDFS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Purchase Orders &amp; Challans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Ordered vs. delivered line-item quantities, unit prices, and SKU codes.
• Often buried in unstructured prose notes, OCR typos, multilingual headers, or backdated challans.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965960"/>
            <a:ext cx="35204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965960"/>
            <a:ext cx="35204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112264"/>
            <a:ext cx="3154680" cy="2898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02. PHYSICAL DOCK VISION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Pallet Inspection Photos (PNG)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Crushed cartons, broken tamper seals, and partial pallet counts.
• Frequently degraded by dark warehouse lighting, blur, 50% shrink-wrap occlusion, or recycled historical photos.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965960"/>
            <a:ext cx="35204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965960"/>
            <a:ext cx="3520440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112264"/>
            <a:ext cx="3154680" cy="2898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03. ACOUSTIC DOCK REPORTS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Warehouse Voice Notes (WAV)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Spoken dock observations ('half a dozen cartons smashed', 'a couple boxes dented').
• Includes hedged uncertainty ('maybe 3 or 4 boxes') and competing SKU attributions.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376672"/>
            <a:ext cx="11000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376672"/>
            <a:ext cx="73152" cy="713232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04688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111111"/>
                </a:solidFill>
                <a:latin typeface="Georgia"/>
              </a:rPr>
              <a:t>Operational Cost Today: Slow manual reconciliation, inconsistent payouts, undetected duplicate photo fraud, and zero claim-level provenance.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612506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03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ARCHITECTURAL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THE FALSE DICHOTOMY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BASELINE A (72%) VS SYSTEM C (44%) VS SYSTEM D (94%)   •   SLIDE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Neither Pure Regex Nor Pure Generative AI Is Safe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Empirical results from our 150-case blind held-out evaluation show why both standard paradigms fail in financial settlement.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3520440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12264"/>
            <a:ext cx="3154680" cy="3813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APPROACH A: STRICT REGEX + RULES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B54708"/>
                </a:solidFill>
                <a:latin typeface="Arial"/>
              </a:rPr>
              <a:t>72.0% Acc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Brittle on Real Language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Fails on unstructured prose PDFs (0% accuracy).
• Fails on spoken number words ('two boxes damaged', 'half a dozen').
• Breaks on minor OCR noise and image degradation.
• Confident Error Rate: 4.0% (6/150).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96596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965960"/>
            <a:ext cx="3520440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112264"/>
            <a:ext cx="3154680" cy="3813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APPROACH B: STANDALONE SEMANTIC AI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D92D20"/>
                </a:solidFill>
                <a:latin typeface="Arial"/>
              </a:rPr>
              <a:t>48.0% Error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Unsafe Autonomous Payouts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Decision Accuracy drops to 44.0% (66/150).
• Auto-Settlement Precision is only 33.3% (36/108).
• Auto-approves late SLA filings (&gt;48h), high-value claims (&gt;=$5,000), and single-source uncorroborated claims.
• Expected Calibration Error (ECE): 0.5694.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96596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965960"/>
            <a:ext cx="3520440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112264"/>
            <a:ext cx="3154680" cy="3813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APPROACH C: EVIDENCEOS HYBRID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67647"/>
                </a:solidFill>
                <a:latin typeface="Arial"/>
              </a:rPr>
              <a:t>94.0% Acc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Epistemic AI + Rules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Uses multimodal AI strictly to extract structured claims with epistemic tags (FACT, INFERENCE, UNCERTAINTY).
• Uses a deterministic Python rule engine (R1–R8) for all arithmetic, SLA checks, and selective abstention.
• 100.0% Auto-Settlement Precision (33/33).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83341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04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EPISTEMIC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AI INTERPRETS • RULES DECIDE • UNCERTAINTY ESCALATES   •   SLIDE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Four-Pillar Verification Architecture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AI interprets. Rules decide. Uncertainty escalates. Evidence proves. Audit logs preserve.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20240"/>
            <a:ext cx="537667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6654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PILLAR 1 • EPISTEMIC MULTIMODAL EXTRACTION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Explicit Epistemic Typing (FACT | INFERENCE | UNCERTAINTY)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Every claim carries an epistemic tag, confidence score, and exact source span (evidence_id, sha256, char_start..char_end, or pixel grid). Blurry/dark images (conf &lt; 0.50) and hedged audio (conf = 0.58) emit UNCERTAINTY, never hallucinated facts.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76672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6654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PILLAR 2 • CROSS-MODAL ENTITY &amp; CONFLICT GRAPH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SKU Grounding &amp; Contradiction Isolation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Links claims across PDFs, photos, and audio into a directed Evidence DAG (Shipment -&gt; Item -&gt; Claim -&gt; Evidence -&gt; Conflict), surfacing quantity mismatches, chronology violations (Challan &lt; PO), and uncorroborated claims.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11480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114800"/>
            <a:ext cx="5376672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6110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PILLAR 3 • CRYPTOGRAPHIC + PERCEPTUAL FRAUD DETECTION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SHA-256 + 64-bit Perceptual dHash (Hamming &lt;= 6)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Cross-checks every incoming dock photo against the historical ledger. Catches both exact byte duplicates and recompressed, cropped, or brightness-shifted reused photos (100.0% recall across 40 controlled pairs).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5376672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6110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PILLAR 4 • DETERMINISTIC RULES (R1–R8) &amp; AUDIT CHAIN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Zero Hallucinated Arithmetic + SHA-256 Hash Chain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Enforces 48-hour SLA windows, high-value manual review thresholds (&gt;= $5,000), and 2-source corroboration. Every event is chained (previous_event_hash -&gt; event_hash) in a tamper-evident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76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05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END-TO-END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MEAN LATENCY: 148.8 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564 FILES PROCESSED ACROSS 150 HELD-OUT CASES   •   SLIDE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End-to-End 12-Stage Verification Pipeline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Identical downstream graph, conflict, and rule execution across both Live Gemini (gemini-2.5-flash) and Offline CI/CD modes.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260604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20824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01–02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Ingestion &amp; Hashing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Magic-byte validation, filename sanitization, SHA-256 + 64-bit dHash (34.8 ms).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2424" y="1874519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1874519"/>
            <a:ext cx="2606040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2020824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03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Injection Sanitizer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Strips untrusted system directives from PDFs, WAVs &amp; PNG chunks (100% block rate).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874519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874519"/>
            <a:ext cx="26060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020824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04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Multimodal Extraction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PDF (22.8 ms), Blind Pixel CV (12.0 ms), &amp; WAV acoustic parser (9.5 ms).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88552" y="1874519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88552" y="1874519"/>
            <a:ext cx="260604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020824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05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Claim Normalization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Atomic NormalizedClaim tuples with epistemic tags &amp; character/pixel spans (11.1 ms).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38728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538728"/>
            <a:ext cx="2606040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85032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06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SKU Entity Resolution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Links PO, Challan, Photo &amp; Audio claims (v1_frozen / v2_context_aware, 9.4 ms).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2424" y="3538728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2424" y="3538728"/>
            <a:ext cx="2606040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3685032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07–08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DAG &amp; Conflict Engine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Builds provenance graph &amp; isolates quantity/chronology conflicts (6.1 ms).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3538728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538728"/>
            <a:ext cx="2606040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685032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09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Historical dHash Match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Scans prior cases for exact or perturbed reused images (20.9 ms).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88552" y="3538728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88552" y="3538728"/>
            <a:ext cx="2606040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3685032"/>
            <a:ext cx="224028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STAGE 10–12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Rules R1–R8 &amp; Audit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Computes settlement or abstention + SHA-256 hash chain (8.4 ms).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376672"/>
            <a:ext cx="11000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5376672"/>
            <a:ext cx="73152" cy="713232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04688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111111"/>
                </a:solidFill>
                <a:latin typeface="Georgia"/>
              </a:rPr>
              <a:t>End-to-End Case Latency (N=150): 148.83 ms mean (112.92 ms P50, 286.67 ms P95) • $0.00 local cost • ~$0.00055/case on Gemini 2.5 Flash.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25012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06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EVALUATION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V1.0.0-BENCHMARK-FROZEN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SEED=42 • ZERO FILENAME OR METADATA LEAKAGE   •   SLIDE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Strict Train / Dev / Held-Out Separation &amp; Zero-Leakage Protocol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Development data -&gt; Tune system -&gt; Lock system (v1.0.0-benchmark-frozen) -&gt; Blind Held-Out 150 -&gt; Audit &amp; Failure Analysis.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874519"/>
          <a:ext cx="11000231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4050791"/>
                <a:gridCol w="2011680"/>
                <a:gridCol w="1554480"/>
              </a:tblGrid>
              <a:tr h="49149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DATASET SPLIT (SEED=42)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CASES / FILES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ROLE IN RESEARCH LIFECYCLE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DECISION ACCURACY (95% CI)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CONFIDENT ERROR RATE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1. canonical_5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5 / 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Deterministic end-to-end regression &amp; UI smoke suite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[56.6%, 100.0%]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2. development_60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60 / 234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Adversarial development &amp; normalizer tuning set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96.7% [88.6%, 99.1%]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1.7% (1/60)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alibri"/>
                        </a:rPr>
                        <a:t>3. heldout_150 (Frozen)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150 / 564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Blind 25-category test set (116 synthetic + 34 real-world-inspired)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94.0% [89.0%, 96.8%]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0.0% (0/150)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94360" y="406908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4069080"/>
            <a:ext cx="352044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15384"/>
            <a:ext cx="3154680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ANTI-LEAKAGE RULE 1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Opaque Filenames &amp; Roles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All 564 held-out files are named artifact_01.pdf..artifact_04.wav and ingested with role='unknown'.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406908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4069080"/>
            <a:ext cx="35204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4215384"/>
            <a:ext cx="3154680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ANTI-LEAKAGE RULE 2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Stripped PNG Metadata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Every held-out image is generated with blind_mode=True and verified via assert b'tEXt' not in png_bytes.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406908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4069080"/>
            <a:ext cx="3520440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4215384"/>
            <a:ext cx="3154680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ANTI-LEAKAGE RULE 3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Cryptographic Freeze Manifest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SHA-256 digests of results.json, failures.json, and heldout_test_150_manifest.json are locked at tag v1.0.0-benchmark-frozen.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07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PRIMARY HELD-OUT BENCHMARK (N=150)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4-TIER HEAD-TO-HEAD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EVALUATION/RESULTS.JSON • SHA-256 VERIFIED   •   SLIDE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Four-System Comparison on Blind Held-Out Set (N = 150)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Full EvidenceOS outperforms Strict Regex by +22.0% and Structured Normalizer by +16.0% while eliminating the 48.0% confident error rate of standalone AI.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874519"/>
          <a:ext cx="1100023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377440"/>
                <a:gridCol w="1005840"/>
                <a:gridCol w="1005840"/>
                <a:gridCol w="1097280"/>
                <a:gridCol w="1216152"/>
                <a:gridCol w="1280160"/>
              </a:tblGrid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EVALUATED SYSTEM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DECISION ACCURACY (95% CI)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MACRO-F1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FIELD ACC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CONFLICT F1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ABSTENTION RECALL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CONFIDENT ERROR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Baseline A: Strict Regex +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72.0% (108/150) [64.3%, 78.6%]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0.4245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85.8%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0.7161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94.4%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4.0% (6/150)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Baseline B: Structured Normalizer + Rules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78.0% (117/150) [70.7%, 83.9%]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0.4558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85.8%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0.7902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(0/150)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System C: Semantic Multimodal AI Only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44.0% (66/150) [36.3%, 52.0%]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0.4969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90.2%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0.9505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33.3%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2D20"/>
                          </a:solidFill>
                          <a:latin typeface="Consolas"/>
                        </a:rPr>
                        <a:t>48.0% (72/150)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alibri"/>
                        </a:rPr>
                        <a:t>System D: Full EvidenceOS (AI + Rules)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94.0% (141/150) [89.0%, 96.8%]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0.9132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95.6%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0.9505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100.0%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0.0% (0/150)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94360" y="5074920"/>
            <a:ext cx="11000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5074920"/>
            <a:ext cx="73152" cy="713232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202936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111111"/>
                </a:solidFill>
                <a:latin typeface="Georgia"/>
              </a:rPr>
              <a:t>Where AI Gains +22.0% Over Regex: Unstructured prose PDFs (100% vs 0%), colloquial warehouse speech (66.7% vs 0%), and degraded dock photos (100% vs 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966682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08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COMPONENT ABLATION STUDY (N=150)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6-STAGE ABLATION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MODALITY REDUNDANCY + DHASH + RULE ENGINE   •   SLIDE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Why Every Modality &amp; Component Is Necessary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Removing any single modality or removing perceptual hashing / deterministic rules causes severe accuracy or safety degradation.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828800"/>
          <a:ext cx="11000231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874519"/>
                <a:gridCol w="914400"/>
                <a:gridCol w="914400"/>
                <a:gridCol w="1234440"/>
                <a:gridCol w="3182112"/>
              </a:tblGrid>
              <a:tr h="60089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ABLATION STAGE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DECISION ACC (95% CI)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MACRO-F1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DUP ACC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CONFIDENT ERROR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PRIMARY FAILURE MODE EXPOSED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Ablation A: Documents Only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36.7% [29.4%, 44.6%]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0.2561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88.0%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62.0%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2D20"/>
                          </a:solidFill>
                          <a:latin typeface="Consolas"/>
                        </a:rPr>
                        <a:t>Blind to physical transit damage &amp; visual fraud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Ablation B: Documents + Voice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76.7% [69.3%, 82.7%]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0.5173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88.0%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6.7%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Misses visual fraud &amp; uncorroborated voice claims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Ablation C: Documents +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76.7% [69.3%, 82.7%]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0.5389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88.0%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Misses spoken dock context &amp; audio conflicts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Ablation D: Docs + Voice + Images (No dHash)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82.0% [75.1%, 87.3%]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0.8041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88.0%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12.0%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Fails on all 18 reused/perturbed image fraud cases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Ablation E: All Modalities + dHash (No Rules)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44.0% [36.3%, 52.0%]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0.4969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48.0%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2D20"/>
                          </a:solidFill>
                          <a:latin typeface="Consolas"/>
                        </a:rPr>
                        <a:t>Unsafe auto-settlements on SLA breaches &amp; &gt;=$5k claims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alibri"/>
                        </a:rPr>
                        <a:t>Ablation F: Full EvidenceOS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94.0% [89.0%, 96.8%]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0.9132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100.0%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0.0%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Optimal accuracy + zero wrong automated payouts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837518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09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SELECTIVE PREDICTION &amp; CALIBRATION (N=150)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ECE = 0.0207 (2.1%)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100.0% PRECISION WHEN AUTO-SETTLING   •   SLIDE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When EvidenceOS Acts Autonomously, Precision Is 100.0%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In high-stakes financial decisions, selective prediction (knowing when to abstain to human review) matters more than raw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3766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5376672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75104"/>
            <a:ext cx="5010912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SYSTEM D: FULL EVIDENCEOS (SELECTIVE PREDICTION)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100.0% Auto-Settlement Precision (33 / 33)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Auto-settles 33/150 cases (100% of clean deliveries + 66.7% of valid partial claims) with zero wrong payouts (95% CI [89.6%, 100.0%], ECE = 0.0207). Captures 108/108 (100.0%) of genuine manual-review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766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376672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75104"/>
            <a:ext cx="5010912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SYSTEM C: SEMANTIC AI ALONE (UNCONSTRAINED)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33.3% Auto-Settlement Precision (36 / 108)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Recklessly auto-settles 108/150 cases (72.0% coverage), producing 72 confident errors (48.0%) and missing two-thirds of required human escalations (ECE = 0.5694).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" y="3749039"/>
          <a:ext cx="1100023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1005840"/>
                <a:gridCol w="1097280"/>
                <a:gridCol w="1920240"/>
                <a:gridCol w="1371600"/>
                <a:gridCol w="3044952"/>
              </a:tblGrid>
              <a:tr h="47548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CONFIDENCE BIN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CASES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MEAN CONF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AUTO-SETTLED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AUTO-SETTLE PRECISION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ABSTAINED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ROOT CAUSE OF BIN POPULATION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[0.00, 0.50] Degraded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0.3875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N/A (100% abstained)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24/24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Blurry, dark, occluded, or off-topic photos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[0.50, 0.70] Hedged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0.5800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N/A (100% abstained)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6/6 (100%)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Uncertain speech ('maybe around 4 boxes...')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alibri"/>
                        </a:rPr>
                        <a:t>[0.85, 0.92] Standard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114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0.9058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33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100.0% (33 / 33)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81/114 (71.1%)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33 valid auto-settlements + SLA/conflict escalations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[0.92, 1.00] High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0.9200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N/A (100% abstained)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6/6 (100%)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Clear documents that violate SLA/policy rules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08353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10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INDEPENDENT CODE AUDIT &amp;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DOCS/INDEPENDENT-AUDIT.MD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ALL 9 ERRORS SAFELY ABSTAIN TO MANUAL REVIEW   •   SLIDE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Auditing Our Own Metrics &amp; Dissecting All 9 Held-Out Errors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We audited the evaluation harness for synthetic shortcuts and metric edge cases—and published every failure without editing frozen v1.0.0.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3766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5376672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75104"/>
            <a:ext cx="5010912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SELF-AUDIT FINDING • AUDIT_FINDING_02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Entity Count (100%) vs. Strict SKU Attribution (98.0%)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Our original entity_matching_accuracy checked whether resolved SKU counts matched ground truth (100%). Our audit showed this masked 3 multi_sku_dispute cases where blind parcel damage (ITEM:UNKNOWN) linked to SKU-IND-201 instead of 202. Strict claim-to-SKU attribution is 98.0% (147/150).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766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37667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75104"/>
            <a:ext cx="5010912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SELF-AUDIT DISCLOSURE • AUDIT_NOTE_01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Offline 2x5 Pixel Grid vs. Live Gemini Vision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While heldout_150 strips all PNG text chunks, offline CV (analyze_pallet_pixels_blind) inspects the 2x5 parcel grid (320x240) of our procedural renderer. Real-world smartphone dock photos require enabling GEMINI_API_KEY (GeminiAIProvider) or a trained object detector.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" y="3794760"/>
          <a:ext cx="1100023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2194560"/>
                <a:gridCol w="5605272"/>
              </a:tblGrid>
              <a:tr h="46634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FAILURE TAXONOMY CODE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COUNT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AFFECTED CATEGORY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ROOT CAUSE &amp; SAFE FALLBACK OUTCOME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ENTITY_LINKING_ERROR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3 /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multi_sku_dispute (50.0%)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Blind photo (ITEM:UNKNOWN) defaults to primary SKU (201) while voice names 202 -&gt; manual_review_required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VOICE_INTERPRETATION_ERROR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2 / 9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colloquial_wording (66.7%)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Unseen regional slang ('munted', 'total toast') not in lexicon -&gt; cross-modal conflict -&gt; manual_review_required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OCR_OR_TEXT_NOISE_ERROR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2 /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typos_and_ocr_noise (66.7%)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Severe digit substitution ('lO' for '10', '0RD3R3D') -&gt; missing evidence review -&gt; manual_review_required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DOCUMENT_EXTRACTION_ERROR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2 / 9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multilingual_terms (66.7%)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Untranslated German headers ('Bestellmenge', 'Geliefert') -&gt; completeness rule -&gt; manual_review_required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79189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11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POST-FREEZE MULTI-SKU STRESS SUITE (N=42)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SCOPED SUB-BENCHMARK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V1_FROZEN (57.1%) -&gt; V2_CONTEXT_AWARE (100.0%)   •   SLIDE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Attacking Our Weakest Category Without Touching Frozen v1.0.0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We built a separate 42-case Multi-SKU stress suite across 7 failure modes and compared v1_frozen against v2_context_aware (OCR canonicalization + cross-modal corroboration).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828800"/>
          <a:ext cx="11000231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791"/>
                <a:gridCol w="1737360"/>
                <a:gridCol w="1737360"/>
                <a:gridCol w="1737360"/>
                <a:gridCol w="1737360"/>
              </a:tblGrid>
              <a:tr h="4724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MULTI-SKU STRESS CATEGORY (6 CASES EACH, N=42)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V1_FROZEN DECISION ACC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V1_FROZEN STRICT SKU LINK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V2_CONTEXT_AWARE DECISION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AF8F5"/>
                          </a:solidFill>
                          <a:latin typeface="Consolas"/>
                        </a:rPr>
                        <a:t>V2_CONTEXT_AWARE SKU LINK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1. explicit_multi_sku (Primary SKU damaged)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2. similar_sku_names_and_codes (201A vs 201B)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2D20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3. reordered_line_items (PO vs Challan reversed)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2D20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4. missing_visual_barcodes_blind_cv (ITEM:UNKNOWN)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2D20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EF3F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5. partial_pallet_visibility (50% occluded -&gt; abstain)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6. conflicting_sku_references (201 vs 202 -&gt; abstain)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2EFE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7. ocr_noisy_sku_identifiers (SKU-IND-2O2 / 1ND-2O2)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0.0% (0/6)*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111"/>
                          </a:solidFill>
                          <a:latin typeface="Consolas"/>
                        </a:rPr>
                        <a:t>100.0% (6/6)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alibri"/>
                        </a:rPr>
                        <a:t>OVERALL MULTI-SKU STRESS SUITE (N = 42)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57.1% (24/42)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42.9% (18/42)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100.0% (42/42)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67647"/>
                          </a:solidFill>
                          <a:latin typeface="Consolas"/>
                        </a:rPr>
                        <a:t>100.0% (42/42)</a:t>
                      </a:r>
                    </a:p>
                  </a:txBody>
                  <a:tcPr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50024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12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ADVERSARIAL SECURITY &amp;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DOCS/SECURITY-EVALUATION.MD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40 IMAGE PAIRS + 15 PROMPT INJECTION ATTACKS   •   SLIDE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Resisting Reused Image Fraud &amp; Multimodal Prompt Injection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Cryptographic hashes fail on recompressed images; raw LLMs fail on embedded adversarial instructions. EvidenceOS neutralizes both.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37667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20240"/>
            <a:ext cx="5376672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66544"/>
            <a:ext cx="5010912" cy="3858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EXPERIMENT 1 • 40 CONTROLLED IMAGE PAIRS (32 DUPLICATES + 8 CONTROLS)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67647"/>
                </a:solidFill>
                <a:latin typeface="Arial"/>
              </a:rPr>
              <a:t>25% -&gt; 100%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SHA-256 Only (25.0% Recall) vs. SHA-256 + 64-bit dHash (100.0% Recall)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Exact Byte Duplicates (8 pairs): SHA-256 100% | dHash 100%
• Recompressed / Palette Shifted (8 pairs): SHA-256 0% | dHash 100%
• Brightness Shifted +14..21 RGB (8 pairs): SHA-256 0% | dHash 100%
• Cropped / Border Shifted 2..3px (8 pairs): SHA-256 0% | dHash 100%
• Distinct Negative Controls (8 pairs): 0.0% False Positives (F1 = 1.000).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37667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7667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66544"/>
            <a:ext cx="5010912" cy="3858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EXPERIMENT 2 • 15 ADVERSARIAL PROMPT INJECTIONS ACROSS 5 VECTORS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1D4ED8"/>
                </a:solidFill>
                <a:latin typeface="Arial"/>
              </a:rPr>
              <a:t>0.0% Success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Defense-in-Depth Against Embedded Directives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• Tested 5 vectors: PDF override instructions, Delivery Challan hidden &lt;system&gt; prompts, Voice transcript jailbreaks, JSON field injections, and fake PNG tEXt authority claims.
• Sanitization Trigger Rate: 100.0% (15/15 intercepted &amp; redacted).
• Architectural Isolation: Downstream RuleEngine is pure deterministic Python and cannot be overridden by untrusted 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320859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13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INVESTIGATION WORKBENCH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DOCS/DEMO-WALKTHROUGH.MD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REACT 19 + TYPESCRIPT + FASTAPI + SQLALCHEMY   •   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3-Minute Live Investigation Walkthrough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Designed for procurement, compliance, and operations teams—every number clicks through to its exact physical evidence span.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20240"/>
            <a:ext cx="5376672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6654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0:00 – 0:45 • STEP 1: CLEAN AUTO-APPROVAL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CASE-2026-001 — Zero-Touch Settlement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50 Industrial Valves ordered, 50 delivered, 0 damaged across PO, Challan, Dock Photo, and Driver Audio. All 8 deterministic rules pass (APPROVED, $12,500.00 verified).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7667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6654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0:45 – 1:30 • STEP 2: INLINE PDF PROVENANCE HIGHLIGHTING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CASE-2026-002 — Corroborated Partial Damage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2 of 20 units crushed ($900.00 credit). Clicking any claim badge opens the Provenance Drawer with amber character-offset highlighting (char_start..char_end) directly inside the extracted PDF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11480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114800"/>
            <a:ext cx="5376672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6110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1:30 – 2:15 • STEP 3: SIDE-BY-SIDE REUSED IMAGE FRAUD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CASE-2026-004 — Perceptual dHash Match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Flags a recompressed dock photo reused from historical claim CASE-2025-889 (Hamming distance &lt;= 6). Renders a side-by-side visual comparison and 64-bit hash bit-strip, escalating to MANUAL_REVIEW_REQUIRED.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5376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5376672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61104"/>
            <a:ext cx="5010912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2:15 – 3:00 • STEP 4: RESEARCH &amp; CALIBRATION DASHBOARD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Live 4-System &amp; 6-Ablation Telemetry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Interactive inspection of the frozen 150-case held-out benchmark (94.0%), 95% Wilson confidence intervals, per-category accuracy breakdown, and tamper-evident SHA-256 audit log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2D20"/>
                </a:solidFill>
                <a:latin typeface="Consolas"/>
              </a:rPr>
              <a:t>14 / 14</a:t>
            </a:r>
            <a:r>
              <a:rPr sz="1050" b="1">
                <a:solidFill>
                  <a:srgbClr val="111111"/>
                </a:solidFill>
                <a:latin typeface="Consolas"/>
              </a:rPr>
              <a:t>  —  LIMITATIONS, REPRODUCIBILITY &amp;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228600"/>
            <a:ext cx="2359152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8F5"/>
                </a:solidFill>
                <a:latin typeface="Consolas"/>
              </a:rPr>
              <a:t>CLEAN-ROOM 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03504"/>
            <a:ext cx="11000232" cy="228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0232" cy="13716"/>
          </a:xfrm>
          <a:prstGeom prst="rect">
            <a:avLst/>
          </a:prstGeom>
          <a:solidFill>
            <a:srgbClr val="DE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000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78756E"/>
                </a:solidFill>
                <a:latin typeface="Consolas"/>
              </a:rPr>
              <a:t>EVIDENCEOS (VERIDOCK)   •   V1.0.0-BENCHMARK-FROZEN • V1.1.0-RESEARCH-HARDENED   •   SLIDE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10002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Arial"/>
              </a:rPr>
              <a:t>Documented Limitations &amp; Clean-Room Verification</a:t>
            </a:r>
          </a:p>
          <a:p>
            <a:pPr>
              <a:spcBef>
                <a:spcPts val="500"/>
              </a:spcBef>
            </a:pPr>
            <a:r>
              <a:rPr i="1" sz="1300">
                <a:solidFill>
                  <a:srgbClr val="4A4843"/>
                </a:solidFill>
                <a:latin typeface="Georgia"/>
              </a:rPr>
              <a:t>A trustworthy engineering project is defined not by claiming perfection, but by proving exactly where it works, where it fails, and why.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537667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5376672" cy="54864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20824"/>
            <a:ext cx="5010912" cy="3035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EXPLICIT THREATS TO VALIDITY &amp; LIMITATIONS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What We Disclose Upfront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1. Controlled Procedural &amp; Adversarial Testbed (AUDIT_NOTE_01): Offline pixel CV inspects our 2x5 parcel grid; unconstrained smartphone photos require live GeminiAIProvider vision or a fine-tuned detector.
2. Unseen Slang, Heavy OCR Noise &amp; Multilingual Headers: Account for 6/9 held-out errors (all safely abstaining to manual_review_required).
3. 90°/180° Image Rotation: 64-bit dHash handles recompression, crops &amp; brightness (100% recall) but requires CLIP/orientation alignment for 90° rotations.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7667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376672" cy="54864"/>
          </a:xfrm>
          <a:prstGeom prst="rect">
            <a:avLst/>
          </a:prstGeom>
          <a:solidFill>
            <a:srgbClr val="067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5010912" cy="3035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8756E"/>
                </a:solidFill>
                <a:latin typeface="Consolas"/>
              </a:rPr>
              <a:t>CLEAN-ROOM RELEASE VERIFICATION (COMMIT 66DF00C)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11111"/>
                </a:solidFill>
                <a:latin typeface="Arial"/>
              </a:rPr>
              <a:t>Single-Command Reproducibility (seed=42)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4A4843"/>
                </a:solidFill>
                <a:latin typeface="Calibri"/>
              </a:rPr>
              <a:t>$ git checkout v1.1.0-research-hardened
$ python -m ruff check .             # PASS (0 errors)
$ python -m pytest -v                # PASS (13/13 passed)
$ npm test -- --run &amp;&amp; npm run build # PASS (10/10 passed)
$ python -m scripts.run_evaluation   # Regenerates N=150
$ python -m evaluation.multi_sku_and_calibration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394960"/>
            <a:ext cx="110002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5394960"/>
            <a:ext cx="73152" cy="713232"/>
          </a:xfrm>
          <a:prstGeom prst="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22976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111111"/>
                </a:solidFill>
                <a:latin typeface="Georgia"/>
              </a:rPr>
              <a:t>“AI interprets. Rules decide. Uncertainty escalates. Evidence proves. Audit logs preserve.”  —  github.com/deswanth12/EvidenceOS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